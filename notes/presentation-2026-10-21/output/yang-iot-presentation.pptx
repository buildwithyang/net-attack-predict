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d30e9079af4522" /><Relationship Type="http://schemas.openxmlformats.org/officeDocument/2006/relationships/extended-properties" Target="/docProps/app.xml" Id="R3453a9057d344b3c" /><Relationship Type="http://schemas.openxmlformats.org/officeDocument/2006/relationships/officeDocument" Target="/ppt/presentation.xml" Id="R25e0ccd57d6f4f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e7ec6719574204"/>
  </p:sldMasterIdLst>
  <p:notesMasterIdLst>
    <p:notesMasterId xmlns:r="http://schemas.openxmlformats.org/officeDocument/2006/relationships" r:id="R832bebf1d5d043b6"/>
  </p:notesMasterIdLst>
  <p:sldIdLst>
    <p:sldId xmlns:r="http://schemas.openxmlformats.org/officeDocument/2006/relationships" id="256" r:id="Rb2d0a171634f4026"/>
    <p:sldId xmlns:r="http://schemas.openxmlformats.org/officeDocument/2006/relationships" id="257" r:id="R9c10adcdb7a748d0"/>
    <p:sldId xmlns:r="http://schemas.openxmlformats.org/officeDocument/2006/relationships" id="258" r:id="Rf98012a7b0024895"/>
    <p:sldId xmlns:r="http://schemas.openxmlformats.org/officeDocument/2006/relationships" id="259" r:id="R3ba7f0d7e22d4af4"/>
    <p:sldId xmlns:r="http://schemas.openxmlformats.org/officeDocument/2006/relationships" id="260" r:id="R830941b5395c438b"/>
    <p:sldId xmlns:r="http://schemas.openxmlformats.org/officeDocument/2006/relationships" id="261" r:id="R9c4500e5399c4898"/>
    <p:sldId xmlns:r="http://schemas.openxmlformats.org/officeDocument/2006/relationships" id="262" r:id="R014afb8ec25d4b16"/>
    <p:sldId xmlns:r="http://schemas.openxmlformats.org/officeDocument/2006/relationships" id="263" r:id="Rdb46ff6ce4a840cb"/>
    <p:sldId xmlns:r="http://schemas.openxmlformats.org/officeDocument/2006/relationships" id="264" r:id="Rd2ea5c48f43842e2"/>
    <p:sldId xmlns:r="http://schemas.openxmlformats.org/officeDocument/2006/relationships" id="265" r:id="Rb88b5386e6fe4791"/>
    <p:sldId xmlns:r="http://schemas.openxmlformats.org/officeDocument/2006/relationships" id="266" r:id="Raaa91d276a6d447f"/>
    <p:sldId xmlns:r="http://schemas.openxmlformats.org/officeDocument/2006/relationships" id="267" r:id="R0f1e0fbfcf164be0"/>
    <p:sldId xmlns:r="http://schemas.openxmlformats.org/officeDocument/2006/relationships" id="268" r:id="R2ebb299608174f45"/>
    <p:sldId xmlns:r="http://schemas.openxmlformats.org/officeDocument/2006/relationships" id="269" r:id="R4fdae5987c774181"/>
    <p:sldId xmlns:r="http://schemas.openxmlformats.org/officeDocument/2006/relationships" id="270" r:id="R622df83a1d774dab"/>
    <p:sldId xmlns:r="http://schemas.openxmlformats.org/officeDocument/2006/relationships" id="271" r:id="R50d5bc5280684c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c88140e0924a2a" /><Relationship Type="http://schemas.openxmlformats.org/officeDocument/2006/relationships/slideMaster" Target="/ppt/slideMasters/slideMaster1.xml" Id="R3fe7ec6719574204" /><Relationship Type="http://schemas.openxmlformats.org/officeDocument/2006/relationships/notesMaster" Target="/ppt/notesMasters/notesMaster1.xml" Id="R832bebf1d5d043b6" /><Relationship Type="http://schemas.openxmlformats.org/officeDocument/2006/relationships/presProps" Target="/ppt/presProps.xml" Id="R4d8373ad161440f0" /><Relationship Type="http://schemas.openxmlformats.org/officeDocument/2006/relationships/tableStyles" Target="/ppt/tableStyles.xml" Id="R9cfea54d48304b7a" /><Relationship Type="http://schemas.openxmlformats.org/officeDocument/2006/relationships/slide" Target="/ppt/slides/slide1.xml" Id="Rb2d0a171634f4026" /><Relationship Type="http://schemas.openxmlformats.org/officeDocument/2006/relationships/slide" Target="/ppt/slides/slide2.xml" Id="R9c10adcdb7a748d0" /><Relationship Type="http://schemas.openxmlformats.org/officeDocument/2006/relationships/slide" Target="/ppt/slides/slide3.xml" Id="Rf98012a7b0024895" /><Relationship Type="http://schemas.openxmlformats.org/officeDocument/2006/relationships/slide" Target="/ppt/slides/slide4.xml" Id="R3ba7f0d7e22d4af4" /><Relationship Type="http://schemas.openxmlformats.org/officeDocument/2006/relationships/slide" Target="/ppt/slides/slide5.xml" Id="R830941b5395c438b" /><Relationship Type="http://schemas.openxmlformats.org/officeDocument/2006/relationships/slide" Target="/ppt/slides/slide6.xml" Id="R9c4500e5399c4898" /><Relationship Type="http://schemas.openxmlformats.org/officeDocument/2006/relationships/slide" Target="/ppt/slides/slide7.xml" Id="R014afb8ec25d4b16" /><Relationship Type="http://schemas.openxmlformats.org/officeDocument/2006/relationships/slide" Target="/ppt/slides/slide8.xml" Id="Rdb46ff6ce4a840cb" /><Relationship Type="http://schemas.openxmlformats.org/officeDocument/2006/relationships/slide" Target="/ppt/slides/slide9.xml" Id="Rd2ea5c48f43842e2" /><Relationship Type="http://schemas.openxmlformats.org/officeDocument/2006/relationships/slide" Target="/ppt/slides/slide10.xml" Id="Rb88b5386e6fe4791" /><Relationship Type="http://schemas.openxmlformats.org/officeDocument/2006/relationships/slide" Target="/ppt/slides/slide11.xml" Id="Raaa91d276a6d447f" /><Relationship Type="http://schemas.openxmlformats.org/officeDocument/2006/relationships/slide" Target="/ppt/slides/slide12.xml" Id="R0f1e0fbfcf164be0" /><Relationship Type="http://schemas.openxmlformats.org/officeDocument/2006/relationships/slide" Target="/ppt/slides/slide13.xml" Id="R2ebb299608174f45" /><Relationship Type="http://schemas.openxmlformats.org/officeDocument/2006/relationships/slide" Target="/ppt/slides/slide14.xml" Id="R4fdae5987c774181" /><Relationship Type="http://schemas.openxmlformats.org/officeDocument/2006/relationships/slide" Target="/ppt/slides/slide15.xml" Id="R622df83a1d774dab" /><Relationship Type="http://schemas.openxmlformats.org/officeDocument/2006/relationships/slide" Target="/ppt/slides/slide16.xml" Id="R50d5bc5280684c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457a00c1ca40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27889253724795" /><Relationship Type="http://schemas.openxmlformats.org/officeDocument/2006/relationships/notesMaster" Target="/ppt/notesMasters/notesMaster1.xml" Id="R9a482da7b8a74d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570d35f8074059" /><Relationship Type="http://schemas.openxmlformats.org/officeDocument/2006/relationships/notesMaster" Target="/ppt/notesMasters/notesMaster1.xml" Id="R18375a842fd748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a6e128a5dc4b7a" /><Relationship Type="http://schemas.openxmlformats.org/officeDocument/2006/relationships/notesMaster" Target="/ppt/notesMasters/notesMaster1.xml" Id="R48dc765271074d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fa8b24cdb840a3" /><Relationship Type="http://schemas.openxmlformats.org/officeDocument/2006/relationships/notesMaster" Target="/ppt/notesMasters/notesMaster1.xml" Id="R56f4b3842fdb47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5eb247814f42a0" /><Relationship Type="http://schemas.openxmlformats.org/officeDocument/2006/relationships/notesMaster" Target="/ppt/notesMasters/notesMaster1.xml" Id="R658b12b43a8647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128ee7ae1d4af7" /><Relationship Type="http://schemas.openxmlformats.org/officeDocument/2006/relationships/notesMaster" Target="/ppt/notesMasters/notesMaster1.xml" Id="R8b6e169eea4d4b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8545b7da8f453a" /><Relationship Type="http://schemas.openxmlformats.org/officeDocument/2006/relationships/notesMaster" Target="/ppt/notesMasters/notesMaster1.xml" Id="Rc7f94ba8c7d44e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84e07ab3dc4509" /><Relationship Type="http://schemas.openxmlformats.org/officeDocument/2006/relationships/notesMaster" Target="/ppt/notesMasters/notesMaster1.xml" Id="Reb12ba60d1134b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fb437afd864ecc" /><Relationship Type="http://schemas.openxmlformats.org/officeDocument/2006/relationships/notesMaster" Target="/ppt/notesMasters/notesMaster1.xml" Id="R67bea5b1c57249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870f861df94007" /><Relationship Type="http://schemas.openxmlformats.org/officeDocument/2006/relationships/notesMaster" Target="/ppt/notesMasters/notesMaster1.xml" Id="R25ac097650d940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d94b72825e43c0" /><Relationship Type="http://schemas.openxmlformats.org/officeDocument/2006/relationships/notesMaster" Target="/ppt/notesMasters/notesMaster1.xml" Id="Re41afcf1b8b14e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482627fde94b55" /><Relationship Type="http://schemas.openxmlformats.org/officeDocument/2006/relationships/notesMaster" Target="/ppt/notesMasters/notesMaster1.xml" Id="Rda88ebf538c747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574873d91949da" /><Relationship Type="http://schemas.openxmlformats.org/officeDocument/2006/relationships/notesMaster" Target="/ppt/notesMasters/notesMaster1.xml" Id="R35706fe035d040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cd0cde6ad2462e" /><Relationship Type="http://schemas.openxmlformats.org/officeDocument/2006/relationships/notesMaster" Target="/ppt/notesMasters/notesMaster1.xml" Id="Rd4eaa45e9c574d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c19a2095eb4e26" /><Relationship Type="http://schemas.openxmlformats.org/officeDocument/2006/relationships/notesMaster" Target="/ppt/notesMasters/notesMaster1.xml" Id="Rfe46bcbb084a4b6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7b7c23408246d1" /><Relationship Type="http://schemas.openxmlformats.org/officeDocument/2006/relationships/notesMaster" Target="/ppt/notesMasters/notesMaster1.xml" Id="R00b88c64257d45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Our question: normal or attack?</a:t>
            </a:r>
          </a:p>
          <a:p xmlns:a="http://schemas.openxmlformats.org/drawingml/2006/main">
            <a:r>
              <a:t>My part: full pipeline; training settings</a:t>
            </a:r>
          </a:p>
          <a:p xmlns:a="http://schemas.openxmlformats.org/drawingml/2006/main">
            <a:r>
              <a:t>Today: what changed; what I learned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../presentation-plan.md, personal contribution confirmed by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of a smoke alarm / 烟雾报警器</a:t>
            </a:r>
          </a:p>
          <a:p xmlns:a="http://schemas.openxmlformats.org/drawingml/2006/main">
            <a:r>
              <a:t>Fire, no alarm: missed attack</a:t>
            </a:r>
          </a:p>
          <a:p xmlns:a="http://schemas.openxmlformats.org/drawingml/2006/main">
            <a:r>
              <a:t>No fire, alarm: false alarm</a:t>
            </a:r>
          </a:p>
          <a:p xmlns:a="http://schemas.openxmlformats.org/drawingml/2006/main">
            <a:r>
              <a:t>Aim: classify IoT traffic</a:t>
            </a:r>
          </a:p>
          <a:p xmlns:a="http://schemas.openxmlformats.org/drawingml/2006/main">
            <a:r>
              <a:t>Objectives: build; compare; evaluate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Project scope and evaluation definitions in notebooks/iot_attack_detection.ipynb, test_model.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Dataset paper: autoencoder; edge resources</a:t>
            </a:r>
          </a:p>
          <a:p xmlns:a="http://schemas.openxmlformats.org/drawingml/2006/main">
            <a:r>
              <a:t>Backpropagation: calculate gradients</a:t>
            </a:r>
          </a:p>
          <a:p xmlns:a="http://schemas.openxmlformats.org/drawingml/2006/main">
            <a:r>
              <a:t>Adam: adapt updates</a:t>
            </a:r>
          </a:p>
          <a:p xmlns:a="http://schemas.openxmlformats.org/drawingml/2006/main">
            <a:r>
              <a:t>Our question: training choices; missed attacks; false alarms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Sharmila &amp; Nagapadma (2023), https://doi.org/10.1186/s42400-023-00178-5</a:t>
            </a:r>
          </a:p>
          <a:p xmlns:a="http://schemas.openxmlformats.org/drawingml/2006/main">
            <a:r>
              <a:t>Rumelhart, Hinton &amp; Williams (1986), https://doi.org/10.1038/323533a0</a:t>
            </a:r>
          </a:p>
          <a:p xmlns:a="http://schemas.openxmlformats.org/drawingml/2006/main">
            <a:r>
              <a:t>Kingma &amp; Ba (2015), https://arxiv.org/abs/1412.6980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Raw: 123,117 flows; 83 features</a:t>
            </a:r>
          </a:p>
          <a:p xmlns:a="http://schemas.openxmlformats.org/drawingml/2006/main">
            <a:r>
              <a:t>After cleaning: 117,922 flows</a:t>
            </a:r>
          </a:p>
          <a:p xmlns:a="http://schemas.openxmlformats.org/drawingml/2006/main">
            <a:r>
              <a:t>Always say attack: about 90% accuracy</a:t>
            </a:r>
          </a:p>
          <a:p xmlns:a="http://schemas.openxmlformats.org/drawingml/2006/main">
            <a:r>
              <a:t>So: detection rate AND false alarms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Colab metadata counts and raw_rows. Dataset: https://archive.ics.uci.edu/dataset/942/rt-iot2022. Counts refer to the project CSV after cleaning.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My part: organised implementation; one notebook</a:t>
            </a:r>
          </a:p>
          <a:p xmlns:a="http://schemas.openxmlformats.org/drawingml/2006/main">
            <a:r>
              <a:t>Clean before split</a:t>
            </a:r>
          </a:p>
          <a:p xmlns:a="http://schemas.openxmlformats.org/drawingml/2006/main">
            <a:r>
              <a:t>Train 70%; validation 15%; test 15%</a:t>
            </a:r>
          </a:p>
          <a:p xmlns:a="http://schemas.openxmlformats.org/drawingml/2006/main">
            <a:r>
              <a:t>Fit scaler on training rows only</a:t>
            </a:r>
          </a:p>
          <a:p xmlns:a="http://schemas.openxmlformats.org/drawingml/2006/main">
            <a:r>
              <a:t>Same split and seed</a:t>
            </a:r>
          </a:p>
          <a:p xmlns:a="http://schemas.openxmlformats.org/drawingml/2006/main">
            <a:r>
              <a:t>Honest limit: panel shows test metrics after each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Project notebook Steps 1–7; Colab metadata. Current run_experiment calls test_model after every experiment. Validation chooses early-stopping weights; the test was visible during exploration, so it is not an untouched final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no: counter, not a traffic feature</a:t>
            </a:r>
          </a:p>
          <a:p xmlns:a="http://schemas.openxmlformats.org/drawingml/2006/main">
            <a:r>
              <a:t>Duplicates: remove before split</a:t>
            </a:r>
          </a:p>
          <a:p xmlns:a="http://schemas.openxmlformats.org/drawingml/2006/main">
            <a:r>
              <a:t>Hidden label spaces: strip</a:t>
            </a:r>
          </a:p>
          <a:p xmlns:a="http://schemas.openxmlformats.org/drawingml/2006/main">
            <a:r>
              <a:t>Large numbers: scale</a:t>
            </a:r>
          </a:p>
          <a:p xmlns:a="http://schemas.openxmlformats.org/drawingml/2006/main">
            <a:r>
              <a:t>Same row in train and test: unfairly easy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 Steps 1–3; Colab cleaned counts. Duplicate count = 123117 - 117922. Large numeric scale is documented in the notebook; not a new Colab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83 raw features; one-hot encoding gives 94 inputs</a:t>
            </a:r>
          </a:p>
          <a:p xmlns:a="http://schemas.openxmlformats.org/drawingml/2006/main">
            <a:r>
              <a:t>64 hidden units; ReLU</a:t>
            </a:r>
          </a:p>
          <a:p xmlns:a="http://schemas.openxmlformats.org/drawingml/2006/main">
            <a:r>
              <a:t>One output score</a:t>
            </a:r>
          </a:p>
          <a:p xmlns:a="http://schemas.openxmlformats.org/drawingml/2006/main">
            <a:r>
              <a:t>Sigmoid inside BCEWithLogitsLoss during training</a:t>
            </a:r>
          </a:p>
          <a:p xmlns:a="http://schemas.openxmlformats.org/drawingml/2006/main">
            <a:r>
              <a:t>Demo: forward; loss; zero gradients; backward; step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 build_mlp and train_model. Colab baseline features=94. PyTorch code in the notebook uses BCEWithLogitsLoss, then sigmoid and threshold 0.5 for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Same data; same network; same seed</a:t>
            </a:r>
          </a:p>
          <a:p xmlns:a="http://schemas.openxmlformats.org/drawingml/2006/main">
            <a:r>
              <a:t>Three configurations; different learning rates shown</a:t>
            </a:r>
          </a:p>
          <a:p xmlns:a="http://schemas.openxmlformats.org/drawingml/2006/main">
            <a:r>
              <a:t>Momentum: a rolling ball / 惯性</a:t>
            </a:r>
          </a:p>
          <a:p xmlns:a="http://schemas.openxmlformats.org/drawingml/2006/main">
            <a:r>
              <a:t>Adam: adaptive step per weight</a:t>
            </a:r>
          </a:p>
          <a:p xmlns:a="http://schemas.openxmlformats.org/drawingml/2006/main">
            <a:r>
              <a:t>This experiment only; not a universal winner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Colab export, 18 October 2026. Seed 42. Local assets/colab-results.json.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Step size down a hill / 下山步长</a:t>
            </a:r>
          </a:p>
          <a:p xmlns:a="http://schemas.openxmlformats.org/drawingml/2006/main">
            <a:r>
              <a:t>0.00001: slow within 30 epochs</a:t>
            </a:r>
          </a:p>
          <a:p xmlns:a="http://schemas.openxmlformats.org/drawingml/2006/main">
            <a:r>
              <a:t>0.001: lower validation loss</a:t>
            </a:r>
          </a:p>
          <a:p xmlns:a="http://schemas.openxmlformats.org/drawingml/2006/main">
            <a:r>
              <a:t>0.1: unstable here</a:t>
            </a:r>
          </a:p>
          <a:p xmlns:a="http://schemas.openxmlformats.org/drawingml/2006/main">
            <a:r>
              <a:t>Same optimiser; change only learning 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Colab export, 18 October 2026. Seed 42. Local assets/colab-results.json.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826 training rows; larger MLP</a:t>
            </a:r>
          </a:p>
          <a:p xmlns:a="http://schemas.openxmlformats.org/drawingml/2006/main">
            <a:r>
              <a:t>Training loss down; validation loss up</a:t>
            </a:r>
          </a:p>
          <a:p xmlns:a="http://schemas.openxmlformats.org/drawingml/2006/main">
            <a:r>
              <a:t>Mock exam / 模拟考</a:t>
            </a:r>
          </a:p>
          <a:p xmlns:a="http://schemas.openxmlformats.org/drawingml/2006/main">
            <a:r>
              <a:t>Best epoch 7; stop after 5 worse checks</a:t>
            </a:r>
          </a:p>
          <a:p xmlns:a="http://schemas.openxmlformats.org/drawingml/2006/main">
            <a:r>
              <a:t>Restore best weights</a:t>
            </a:r>
          </a:p>
          <a:p xmlns:a="http://schemas.openxmlformats.org/drawingml/2006/main">
            <a:r>
              <a:t>More data is a separate comparison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Colab export, 18 October 2026. Seed 42. Local assets/colab-results.json.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rows: actual traffic</a:t>
            </a:r>
          </a:p>
          <a:p xmlns:a="http://schemas.openxmlformats.org/drawingml/2006/main">
            <a:r>
              <a:t>False alarms: 1.16% of normal traffic</a:t>
            </a:r>
          </a:p>
          <a:p xmlns:a="http://schemas.openxmlformats.org/drawingml/2006/main">
            <a:r>
              <a:t>Misses: 25 attacks</a:t>
            </a:r>
          </a:p>
          <a:p xmlns:a="http://schemas.openxmlformats.org/drawingml/2006/main">
            <a:r>
              <a:t>Threshold 0.5</a:t>
            </a:r>
          </a:p>
          <a:p xmlns:a="http://schemas.openxmlformats.org/drawingml/2006/main">
            <a:r>
              <a:t>Baseline checkpoint from validation</a:t>
            </a:r>
          </a:p>
          <a:p xmlns:a="http://schemas.openxmlformats.org/drawingml/2006/main">
            <a:r>
              <a:t>One seed; this dataset; exploratory test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Colab export, 18 October 2026. Seed 42. Local assets/colab-results.json.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My contribution: organised pipeline; training comparisons</a:t>
            </a:r>
          </a:p>
          <a:p xmlns:a="http://schemas.openxmlformats.org/drawingml/2006/main">
            <a:r>
              <a:t>Learned: data first; curves explain failures</a:t>
            </a:r>
          </a:p>
          <a:p xmlns:a="http://schemas.openxmlformats.org/drawingml/2006/main">
            <a:r>
              <a:t>Limits: one seed; binary labels; random split</a:t>
            </a:r>
          </a:p>
          <a:p xmlns:a="http://schemas.openxmlformats.org/drawingml/2006/main">
            <a:r>
              <a:t>Test results visible during experiments</a:t>
            </a:r>
          </a:p>
          <a:p xmlns:a="http://schemas.openxmlformats.org/drawingml/2006/main">
            <a:r>
              <a:t>Next: multiple seeds; fresh evaluation; attack-level recall</a:t>
            </a:r>
          </a:p>
          <a:p xmlns:a="http://schemas.openxmlformats.org/drawingml/2006/main">
            <a:r>
              <a:t>Thank you. Notebook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Personal reflection from current experiments. Suggested next steps, not completed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talk: Run all</a:t>
            </a:r>
          </a:p>
          <a:p xmlns:a="http://schemas.openxmlformats.org/drawingml/2006/main">
            <a:r>
              <a:t>Reset baseline</a:t>
            </a:r>
          </a:p>
          <a:p xmlns:a="http://schemas.openxmlformats.org/drawingml/2006/main">
            <a:r>
              <a:t>Training: SGD, lr 0.001; Train</a:t>
            </a:r>
          </a:p>
          <a:p xmlns:a="http://schemas.openxmlformats.org/drawingml/2006/main">
            <a:r>
              <a:t>Reset baseline</a:t>
            </a:r>
          </a:p>
          <a:p xmlns:a="http://schemas.openxmlformats.org/drawingml/2006/main">
            <a:r>
              <a:t>Training: Adam, lr 0.001; Train</a:t>
            </a:r>
          </a:p>
          <a:p xmlns:a="http://schemas.openxmlformats.org/drawingml/2006/main">
            <a:r>
              <a:t>If unavailable: show saved Colab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Colab export, 18 October 2026. Seed 42. Local assets/colab-results.json.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rows: Adam, SGD, momentum, learning rates</a:t>
            </a:r>
          </a:p>
          <a:p xmlns:a="http://schemas.openxmlformats.org/drawingml/2006/main">
            <a:r>
              <a:t>Small-data runs: 826 rows, larger network</a:t>
            </a:r>
          </a:p>
          <a:p xmlns:a="http://schemas.openxmlformats.org/drawingml/2006/main">
            <a:r>
              <a:t>Best val is not last val</a:t>
            </a:r>
          </a:p>
          <a:p xmlns:a="http://schemas.openxmlformats.org/drawingml/2006/main">
            <a:r>
              <a:t>Patience 0: last weights</a:t>
            </a:r>
          </a:p>
          <a:p xmlns:a="http://schemas.openxmlformats.org/drawingml/2006/main">
            <a:r>
              <a:t>Patience 5: best weights</a:t>
            </a:r>
          </a:p>
          <a:p xmlns:a="http://schemas.openxmlformats.org/drawingml/2006/main">
            <a:r>
              <a:t>Different data/model rows are separate comparisons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Colab export, 18 October 2026. Seed 42. Local assets/colab-results.json.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scores: forward pass</a:t>
            </a:r>
          </a:p>
          <a:p xmlns:a="http://schemas.openxmlformats.org/drawingml/2006/main">
            <a:r>
              <a:t>loss: compare scores with labels</a:t>
            </a:r>
          </a:p>
          <a:p xmlns:a="http://schemas.openxmlformats.org/drawingml/2006/main">
            <a:r>
              <a:t>zero_grad: clear previous gradients</a:t>
            </a:r>
          </a:p>
          <a:p xmlns:a="http://schemas.openxmlformats.org/drawingml/2006/main">
            <a:r>
              <a:t>backward: calculate current gradients</a:t>
            </a:r>
          </a:p>
          <a:p xmlns:a="http://schemas.openxmlformats.org/drawingml/2006/main">
            <a:r>
              <a:t>step: update weights</a:t>
            </a:r>
          </a:p>
          <a:p xmlns:a="http://schemas.openxmlformats.org/drawingml/2006/main">
            <a:r>
              <a:t>Validation: eval + no_grad</a:t>
            </a:r>
          </a:p>
          <a:p xmlns:a="http://schemas.openxmlformats.org/drawingml/2006/main">
            <a:r>
              <a:t>Best weights: deepcopy; load_state_dict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Exact operations from notebook train_model; shortened formatting for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Dataset and three papers checked 18 October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Links shown on slide; checked against publisher, arXiv and UCI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e373347a541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66ab6fa4946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3f76cf84c4c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87a866ef243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0d1d0de5442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0d2cc8d2a40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91FDB1-BAA6-45F7-A62A-D11A78A36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BF1C2F-C244-443E-A9FB-8B1CF19103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40D9BC-5AC0-4C44-B730-0B34AFCFAD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60DB31-D0CF-49FF-99A2-A6CCA92E3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9241B0-BD98-4155-9CE1-0BAC711836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663B89-65F6-4C73-A07C-56EDD5002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45C975-9C2B-4862-9C24-EC59FCCD8F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F73046-6F40-4406-BCD3-66E8CD30CD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5F9E7F-0FA2-468F-9D26-78118C9E9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BB9E3E-3998-457E-B15C-F9D6660E85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81439385f546cf" /><Relationship Type="http://schemas.openxmlformats.org/officeDocument/2006/relationships/slideLayout" Target="/ppt/slideLayouts/slideLayout1.xml" Id="Rb8578cb207eb4d65" /><Relationship Type="http://schemas.openxmlformats.org/officeDocument/2006/relationships/slideLayout" Target="/ppt/slideLayouts/slideLayout2.xml" Id="R617ed7583d5d41b1" /><Relationship Type="http://schemas.openxmlformats.org/officeDocument/2006/relationships/slideLayout" Target="/ppt/slideLayouts/slideLayout3.xml" Id="Rd5e7eb9a74984f22" /><Relationship Type="http://schemas.openxmlformats.org/officeDocument/2006/relationships/slideLayout" Target="/ppt/slideLayouts/slideLayout4.xml" Id="R7d655eec860c4c04" /><Relationship Type="http://schemas.openxmlformats.org/officeDocument/2006/relationships/slideLayout" Target="/ppt/slideLayouts/slideLayout5.xml" Id="R4eaebb2a13ef4682" /><Relationship Type="http://schemas.openxmlformats.org/officeDocument/2006/relationships/slideLayout" Target="/ppt/slideLayouts/slideLayout6.xml" Id="R0c3e8feaec9a48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578cb207eb4d65"/>
    <p:sldLayoutId xmlns:r="http://schemas.openxmlformats.org/officeDocument/2006/relationships" id="2147483650" r:id="R617ed7583d5d41b1"/>
    <p:sldLayoutId xmlns:r="http://schemas.openxmlformats.org/officeDocument/2006/relationships" id="2147483651" r:id="Rd5e7eb9a74984f22"/>
    <p:sldLayoutId xmlns:r="http://schemas.openxmlformats.org/officeDocument/2006/relationships" id="2147483652" r:id="R7d655eec860c4c04"/>
    <p:sldLayoutId xmlns:r="http://schemas.openxmlformats.org/officeDocument/2006/relationships" id="2147483653" r:id="R4eaebb2a13ef4682"/>
    <p:sldLayoutId xmlns:r="http://schemas.openxmlformats.org/officeDocument/2006/relationships" id="2147483654" r:id="R0c3e8feaec9a48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f1d3632f34995" /><Relationship Type="http://schemas.openxmlformats.org/officeDocument/2006/relationships/notesSlide" Target="/ppt/notesSlides/notesSlide1.xml" Id="R3e8443f060024a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57163a7e647eb" /><Relationship Type="http://schemas.openxmlformats.org/officeDocument/2006/relationships/notesSlide" Target="/ppt/notesSlides/notesSlide2.xml" Id="R45621d6ed05141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aacccb32b7491a" /><Relationship Type="http://schemas.openxmlformats.org/officeDocument/2006/relationships/notesSlide" Target="/ppt/notesSlides/notesSlide3.xml" Id="R4050d3f2125e4f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1e704abac946b7" /><Relationship Type="http://schemas.openxmlformats.org/officeDocument/2006/relationships/image" Target="/ppt/media/image.png" Id="Rbc040ed89aeb475a" /><Relationship Type="http://schemas.openxmlformats.org/officeDocument/2006/relationships/notesSlide" Target="/ppt/notesSlides/notesSlide4.xml" Id="Rf7b1fd52198b4a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0b3461f4d845da" /><Relationship Type="http://schemas.openxmlformats.org/officeDocument/2006/relationships/notesSlide" Target="/ppt/notesSlides/notesSlide5.xml" Id="Rd19436c1485842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c1a747a5448ec" /><Relationship Type="http://schemas.openxmlformats.org/officeDocument/2006/relationships/notesSlide" Target="/ppt/notesSlides/notesSlide6.xml" Id="R907af6b607d240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74cc0ad334fa0" /><Relationship Type="http://schemas.openxmlformats.org/officeDocument/2006/relationships/notesSlide" Target="/ppt/notesSlides/notesSlide7.xml" Id="R3a83e30db3534b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d9dec120f462b" /><Relationship Type="http://schemas.openxmlformats.org/officeDocument/2006/relationships/image" Target="/ppt/media/image2.png" Id="R71e5c2030f6646bb" /><Relationship Type="http://schemas.openxmlformats.org/officeDocument/2006/relationships/notesSlide" Target="/ppt/notesSlides/notesSlide8.xml" Id="Ra0b9325d3e7443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ffe4e433a4a49" /><Relationship Type="http://schemas.openxmlformats.org/officeDocument/2006/relationships/image" Target="/ppt/media/image3.png" Id="Rb7ce657c76b14fc8" /><Relationship Type="http://schemas.openxmlformats.org/officeDocument/2006/relationships/notesSlide" Target="/ppt/notesSlides/notesSlide9.xml" Id="R1ec6a27737154e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b822f7f0b34258" /><Relationship Type="http://schemas.openxmlformats.org/officeDocument/2006/relationships/image" Target="/ppt/media/image4.png" Id="R126067f312984bec" /><Relationship Type="http://schemas.openxmlformats.org/officeDocument/2006/relationships/notesSlide" Target="/ppt/notesSlides/notesSlide10.xml" Id="R4ad36905df5b4f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20ef13384e4c99" /><Relationship Type="http://schemas.openxmlformats.org/officeDocument/2006/relationships/image" Target="/ppt/media/image5.png" Id="R6e6a08e04ab748da" /><Relationship Type="http://schemas.openxmlformats.org/officeDocument/2006/relationships/notesSlide" Target="/ppt/notesSlides/notesSlide11.xml" Id="R11ca7adbdfa34b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837a83db1347da" /><Relationship Type="http://schemas.openxmlformats.org/officeDocument/2006/relationships/notesSlide" Target="/ppt/notesSlides/notesSlide12.xml" Id="Rd7c23ea6d7c94d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fdf800ee4d40e0" /><Relationship Type="http://schemas.openxmlformats.org/officeDocument/2006/relationships/image" Target="/ppt/media/image.jpeg" Id="R98a18ebdbdb94e96" /><Relationship Type="http://schemas.openxmlformats.org/officeDocument/2006/relationships/notesSlide" Target="/ppt/notesSlides/notesSlide13.xml" Id="Rabb718e0fa8e45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e5da796bf14f74" /><Relationship Type="http://schemas.openxmlformats.org/officeDocument/2006/relationships/notesSlide" Target="/ppt/notesSlides/notesSlide14.xml" Id="Rfeb4c7f441f14d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1a4cfef74c4e42" /><Relationship Type="http://schemas.openxmlformats.org/officeDocument/2006/relationships/notesSlide" Target="/ppt/notesSlides/notesSlide15.xml" Id="R69d92ee4b44c42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647b3c57624249" /><Relationship Type="http://schemas.openxmlformats.org/officeDocument/2006/relationships/notesSlide" Target="/ppt/notesSlides/notesSlide16.xml" Id="R74d1efafe7f944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C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438C4-818A-41FE-8197-222FFE90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 Network Attack Detection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Using Neural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94FDA-B989-4B08-BA50-D0B3A954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82D1C5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82D1C5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82D1C5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82D1C5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82D1C5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82D1C5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82D1C5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82D1C5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82D1C5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82D1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82D1C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82D1C5"/>
                </a:solidFill>
                <a:latin typeface="Arial"/>
                <a:ea typeface="Arial"/>
                <a:cs typeface="Arial"/>
              </a:rPr>
              <a:t>I organised the full pipeline and focused on training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71600-4D5F-4500-904B-0DFD54AF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9E4E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9E4E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9E4E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9E4E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9E4E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9E4E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9E4E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9E4E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9E4E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9E4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9E4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4E7"/>
                </a:solidFill>
                <a:latin typeface="Arial"/>
                <a:ea typeface="Arial"/>
                <a:cs typeface="Arial"/>
              </a:rPr>
              <a:t>Yang Yu</a:t>
            </a:r>
          </a:p>
          <a:p xmlns:a="http://schemas.openxmlformats.org/drawingml/2006/main">
            <a:pPr>
              <a:defRPr sz="1875" b="0">
                <a:solidFill>
                  <a:srgbClr val="D9E4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4E7"/>
                </a:solidFill>
                <a:latin typeface="Arial"/>
                <a:ea typeface="Arial"/>
                <a:cs typeface="Arial"/>
              </a:rPr>
              <a:t>CSIP5103D   /   21 October 2026</a:t>
            </a:r>
          </a:p>
        </p:txBody>
      </p:sp>
    </p:spTree>
    <p:extLst>
      <p:ext uri="{BB962C8B-B14F-4D97-AF65-F5344CB8AC3E}">
        <p14:creationId xmlns:p14="http://schemas.microsoft.com/office/powerpoint/2010/main" val="983395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F7DF1-CC58-48BD-B422-EE5DD22F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We need to catch attacks and avoid false alarms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7F3FB-0B0C-46A9-B2B8-0D593B3F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1FFCB-79BD-4540-98DD-71790F99972E}"/>
              </a:ext>
            </a:extLst>
          </p:cNvPr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10668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000500"/>
                <a:gridCol w="4000500"/>
              </a:tblGrid>
              <a:tr h="7620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Real traffic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says normal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says attack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Normal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Correct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False alarm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Attack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Missed attack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Correct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15C57-30AF-4CC0-A0DF-C8D5AA50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Aim: recognise normal and attack traffic with an MLP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0C58A-E007-4739-8E66-FFB2DEED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Build a repeatable pipeline. Compare training settings. Measure both mistakes.</a:t>
            </a:r>
          </a:p>
        </p:txBody>
      </p:sp>
    </p:spTree>
    <p:extLst>
      <p:ext uri="{BB962C8B-B14F-4D97-AF65-F5344CB8AC3E}">
        <p14:creationId xmlns:p14="http://schemas.microsoft.com/office/powerpoint/2010/main" val="1890758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BFC72-A369-4C11-831D-9605109E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We study training choices on an IoT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A7B5C-1B3B-4C74-A72F-2595F206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763F2-ADE3-406B-B304-C5CD3DE18DF3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476750"/>
                <a:gridCol w="3257550"/>
              </a:tblGrid>
              <a:tr h="785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idea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we use 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Sharmila &amp; Nagapadma, 2023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Quantised autoencoder for IoT edge devices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RT-IoT2022 data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Rumelhart et al., 1986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Backpropagation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Calculate gradients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Kingma &amp; Ba, 2015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Adam optimiser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Compare training updates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D9214-113B-467F-87A9-D141EE29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Our focus: a supervised MLP and controlled training experiments</a:t>
            </a:r>
          </a:p>
        </p:txBody>
      </p:sp>
    </p:spTree>
    <p:extLst>
      <p:ext uri="{BB962C8B-B14F-4D97-AF65-F5344CB8AC3E}">
        <p14:creationId xmlns:p14="http://schemas.microsoft.com/office/powerpoint/2010/main" val="836376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3CAFD-EE20-4AC4-8507-AD3DAAC2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About 90% of the records are attacks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AB361-EF84-4DFE-8640-D88C9B6F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459C9-456B-4327-B9E7-82DD6835C3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40ed89aeb475a"/>
          <a:stretch xmlns:a="http://schemas.openxmlformats.org/drawingml/2006/main"/>
        </p:blipFill>
        <p:spPr>
          <a:xfrm xmlns:a="http://schemas.openxmlformats.org/drawingml/2006/main">
            <a:off x="590550" y="1590602"/>
            <a:ext cx="8096250" cy="396254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06214-DB95-45A4-B45F-DF3C8DF3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57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123,117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2A62C-306D-4223-9089-B2A76021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raw flows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2802F-0A80-47FA-9BC2-518F8F41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33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117,922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F2AEC-B0DE-4087-B262-1D75C6F8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48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after cleaning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D4CBD-6E15-4727-9796-EBC5DC4B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9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C4D39"/>
                </a:solidFill>
                <a:latin typeface="Arial"/>
                <a:ea typeface="Arial"/>
                <a:cs typeface="Arial"/>
              </a:rPr>
              <a:t>Accuracy alone hides the false alarms</a:t>
            </a:r>
          </a:p>
        </p:txBody>
      </p:sp>
    </p:spTree>
    <p:extLst>
      <p:ext uri="{BB962C8B-B14F-4D97-AF65-F5344CB8AC3E}">
        <p14:creationId xmlns:p14="http://schemas.microsoft.com/office/powerpoint/2010/main" val="14479734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A7094B-F121-496E-97F0-F685F99F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I connected cleaning, training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63C6F-BC7A-4CB4-AD2F-B1B3FE73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D137D-4148-44E4-81D9-9DA48B82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1  Clean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15F91-B292-490A-8D2F-DCAED701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319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74857-639F-4763-ACB7-4A0CFA10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Remove duplicates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67B43-EDFE-45E5-9A76-38FAA11A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2  Split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57A94-218D-488E-90C0-DE339CFD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09825"/>
            <a:ext cx="319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F5A63-F86F-43A7-97EE-4553C2C5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289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70% / 15% / 15%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897DC-AB43-4DFA-B33D-5D16AA1F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3  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316EB-0CB5-44EA-A2F9-2E2E17D2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9825"/>
            <a:ext cx="319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7F9F4-9DFC-4F62-A110-D41FBB9F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Fit on train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3D7E1-0D61-4069-B422-8422BFA2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4  Train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016C0-F65C-4FAD-B457-ECE491B7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319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01323-6AEB-4542-A4D2-D3784DFC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MLP + optimiser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336F1-C7AB-4BE8-9D28-19DA0BAB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576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5  Validate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57460-8DD4-4731-AA86-9A885534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57700"/>
            <a:ext cx="319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74675-C44A-4AD6-9283-82CCEC10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767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Keep best weights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2EFB7-A1A7-433D-B442-113859F9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6  Evaluate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40B92-D3FF-4309-968B-CBAC7D86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57700"/>
            <a:ext cx="319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62B5D-26EF-4BDF-8879-EA22A42D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767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Misses + false alarms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63676-C4DE-4F23-B052-D3AF7944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The panel reports test metrics after each run</a:t>
            </a:r>
          </a:p>
        </p:txBody>
      </p:sp>
    </p:spTree>
    <p:extLst>
      <p:ext uri="{BB962C8B-B14F-4D97-AF65-F5344CB8AC3E}">
        <p14:creationId xmlns:p14="http://schemas.microsoft.com/office/powerpoint/2010/main" val="619594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2F840-78D8-45D5-8D47-6B2D880C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Cleaning prevents misleading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18C1A-B117-4F80-965D-2C9EF962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F787C-18AE-426A-8653-B6E9643A31B0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7048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Problem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A row counter called no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Drop 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5,195 exact duplicate rows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Remove before splitting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Hidden whitespace in labels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Strip label text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Features on very different scales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Standardise using training data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BCB26-BB04-4CE0-A267-84EA2722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Clean first, then split</a:t>
            </a:r>
          </a:p>
        </p:txBody>
      </p:sp>
    </p:spTree>
    <p:extLst>
      <p:ext uri="{BB962C8B-B14F-4D97-AF65-F5344CB8AC3E}">
        <p14:creationId xmlns:p14="http://schemas.microsoft.com/office/powerpoint/2010/main" val="185926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3FEDC-7328-414E-8E07-504D36A9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A small MLP learns through a short training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2AF69-7859-4E56-9318-D373F3A5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B415A-B757-42E2-BAB9-909A45863A05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762000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Hidden layer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94 values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64 units + ReLU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1 score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CC7B3-F107-453B-8C5C-C2A4DE1A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83 original features become 94 numeric inputs after encoding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BCC13-52CD-4270-B13E-19586AFE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52950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forward     loss     zero_grad     backward    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C6F55-DABC-4383-9953-81A2F1B7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53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Batch 256      Adam lr 0.001      At most 30 epochs</a:t>
            </a:r>
          </a:p>
        </p:txBody>
      </p:sp>
    </p:spTree>
    <p:extLst>
      <p:ext uri="{BB962C8B-B14F-4D97-AF65-F5344CB8AC3E}">
        <p14:creationId xmlns:p14="http://schemas.microsoft.com/office/powerpoint/2010/main" val="17879389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43199-0CF2-4CB2-8145-5CB7394F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Adam reaches the lowest loss in this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AC2A6-3B6D-4708-9F5E-30ABF00C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66593-EF07-400D-B6C8-34EAF317D0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5c2030f6646bb"/>
          <a:stretch xmlns:a="http://schemas.openxmlformats.org/drawingml/2006/main"/>
        </p:blipFill>
        <p:spPr>
          <a:xfrm xmlns:a="http://schemas.openxmlformats.org/drawingml/2006/main">
            <a:off x="619125" y="1456977"/>
            <a:ext cx="10953750" cy="403929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35620-CFC5-4004-8493-15AE8140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SGD lr 0.1       Momentum lr 0.01       Adam lr 0.001</a:t>
            </a:r>
          </a:p>
        </p:txBody>
      </p:sp>
    </p:spTree>
    <p:extLst>
      <p:ext uri="{BB962C8B-B14F-4D97-AF65-F5344CB8AC3E}">
        <p14:creationId xmlns:p14="http://schemas.microsoft.com/office/powerpoint/2010/main" val="3365593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51B62-38C3-4980-973B-5A77EE90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The learning rate changes how well Adam learns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645E3-C542-4C8E-8647-FE7A934E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2C997-653A-4523-945E-7E82580B94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e657c76b14fc8"/>
          <a:stretch xmlns:a="http://schemas.openxmlformats.org/drawingml/2006/main"/>
        </p:blipFill>
        <p:spPr>
          <a:xfrm xmlns:a="http://schemas.openxmlformats.org/drawingml/2006/main">
            <a:off x="619125" y="1504602"/>
            <a:ext cx="10953750" cy="403929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5DA6F-B1D7-46E0-B4A5-C4948C4C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00725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Same model and data. Only the learning rate changes.</a:t>
            </a:r>
          </a:p>
        </p:txBody>
      </p:sp>
    </p:spTree>
    <p:extLst>
      <p:ext uri="{BB962C8B-B14F-4D97-AF65-F5344CB8AC3E}">
        <p14:creationId xmlns:p14="http://schemas.microsoft.com/office/powerpoint/2010/main" val="18838136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6246D-2543-4428-909C-4D90D10F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Validation shows when more training stops helping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63B49-4F4E-4154-A308-3340A407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99FFA-FAD3-4283-AA9E-3C6AD4E30B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067f312984bec"/>
          <a:stretch xmlns:a="http://schemas.openxmlformats.org/drawingml/2006/main"/>
        </p:blipFill>
        <p:spPr>
          <a:xfrm xmlns:a="http://schemas.openxmlformats.org/drawingml/2006/main">
            <a:off x="476250" y="1568440"/>
            <a:ext cx="8239125" cy="400686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8F1F4-5781-40AE-AC36-3C6E73A9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05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Best epoch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73E29-2B09-4B94-ACBC-9800D5C1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3362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1A817-1A0E-4361-8525-457B9371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766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Early stop 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42965-2322-4486-A3E8-CA8A1208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864A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94ECC-A8C6-4B5C-8FB2-A25F4773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293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1% of training rows. Hidden layers 256 and 128. Adam lr 0.001.</a:t>
            </a:r>
          </a:p>
        </p:txBody>
      </p:sp>
    </p:spTree>
    <p:extLst>
      <p:ext uri="{BB962C8B-B14F-4D97-AF65-F5344CB8AC3E}">
        <p14:creationId xmlns:p14="http://schemas.microsoft.com/office/powerpoint/2010/main" val="17058293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CE7EF-6766-4B52-82F5-CAA7306D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The baseline catches 99.84% of attacks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4DF46-4976-4989-AE58-0617C921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5E5D8-4A2B-44E0-BD40-572A653F79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a08e04ab748da"/>
          <a:stretch xmlns:a="http://schemas.openxmlformats.org/drawingml/2006/main"/>
        </p:blipFill>
        <p:spPr>
          <a:xfrm xmlns:a="http://schemas.openxmlformats.org/drawingml/2006/main">
            <a:off x="1918293" y="1381125"/>
            <a:ext cx="4964514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3E1E9-BE74-4CF1-876A-040D0FF6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95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BC4D39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C4D39"/>
                </a:solidFill>
                <a:latin typeface="Arial"/>
                <a:ea typeface="Arial"/>
                <a:cs typeface="Arial"/>
              </a:rPr>
              <a:t>1.16%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B39E4-ECB9-4765-BF3D-27738D80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622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false alarms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A3EA3-00BD-409D-BD23-84D7B87E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295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864A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710E2-35DD-45A2-B47B-E3327467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5434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missed attacks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416EE-F19B-4689-9CEC-E6E89085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Baseline Adam lr 0.001. Test set: 17,689 flows. Threshold: 0.5.</a:t>
            </a:r>
          </a:p>
        </p:txBody>
      </p:sp>
    </p:spTree>
    <p:extLst>
      <p:ext uri="{BB962C8B-B14F-4D97-AF65-F5344CB8AC3E}">
        <p14:creationId xmlns:p14="http://schemas.microsoft.com/office/powerpoint/2010/main" val="19903431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E1BC0-A1B9-4D8B-BB71-F4E8015D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I learned to check the data and the training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7C1E2-81A6-486D-A910-5F697CEA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97D27-D44D-4AAE-BCB5-571AEC3F18EE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48075"/>
                <a:gridCol w="3648075"/>
              </a:tblGrid>
              <a:tr h="79771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Learned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Training settings change the result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One seed and one random split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Repeat across seeds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Validation helps decide when to stop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Only normal / attack labels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Check each attack type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The full pipeline must be explainable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Test results visible while exploring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Use a fresh final evaluation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93D0C-08EF-4AC8-B6A1-6EFA933B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Thank you. I can show the notebook live.</a:t>
            </a:r>
          </a:p>
        </p:txBody>
      </p:sp>
    </p:spTree>
    <p:extLst>
      <p:ext uri="{BB962C8B-B14F-4D97-AF65-F5344CB8AC3E}">
        <p14:creationId xmlns:p14="http://schemas.microsoft.com/office/powerpoint/2010/main" val="7922056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6E780-D492-4E00-94E7-0F906A69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The demo changes one training setting at a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D2F03-BD1B-4015-B4B7-DA2FFBE8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E4985-F7FA-4631-B8B7-0D1CDA1450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18ebdbdb94e96"/>
          <a:stretch xmlns:a="http://schemas.openxmlformats.org/drawingml/2006/main"/>
        </p:blipFill>
        <p:spPr>
          <a:xfrm xmlns:a="http://schemas.openxmlformats.org/drawingml/2006/main">
            <a:off x="2016706" y="1428750"/>
            <a:ext cx="5253463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826AF-0E67-4CC7-9893-861408A4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76425"/>
            <a:ext cx="26098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1  Run all before the talk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2  SGD, lr 0.001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3  Adam, lr 0.001</a:t>
            </a:r>
          </a:p>
        </p:txBody>
      </p:sp>
    </p:spTree>
    <p:extLst>
      <p:ext uri="{BB962C8B-B14F-4D97-AF65-F5344CB8AC3E}">
        <p14:creationId xmlns:p14="http://schemas.microsoft.com/office/powerpoint/2010/main" val="20975606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CFC8F-F43F-43F4-B42B-ACEA239D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The comparison uses saved Colab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2584C-E629-418C-82DD-E1A8D1C8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E415E-3D12-4574-A9EE-032AF172AD17}"/>
              </a:ext>
            </a:extLst>
          </p:cNvPr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11049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047750"/>
                <a:gridCol w="1714500"/>
                <a:gridCol w="1714500"/>
                <a:gridCol w="1809750"/>
                <a:gridCol w="2190750"/>
              </a:tblGrid>
              <a:tr h="38965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Epochs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Best val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Last val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Detected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alarms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T w="9525">
                      <a:solidFill>
                        <a:srgbClr val="CCD6D7"/>
                      </a:solidFill>
                      <a:prstDash val="solid"/>
                    </a:lnT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172C3C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Adam 0.001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0.0074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0.0087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99.84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1.16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SGD 0.1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0.0161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0.0199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99.78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2.11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Momentum 0.01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0.0170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0.0173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99.83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2.22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SGD 0.001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0.0996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0.0996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98.82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35.27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Adam 0.00001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0.1126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0.1126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99.02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34.89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Adam 0.1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0.0416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0.0926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99.97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16.75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Overfit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0.1059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0.3119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99.14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3.55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Early stopping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0.1059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0.1177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97.92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6.05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Weight decay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0.0983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0.1228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98.24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4.33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965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More data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CD6D7"/>
                      </a:solidFill>
                      <a:prstDash val="solid"/>
                    </a:lnL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0.0307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0.1058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99.76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C3C"/>
                          </a:solidFill>
                          <a:latin typeface="Arial"/>
                          <a:ea typeface="Arial"/>
                          <a:cs typeface="Arial"/>
                        </a:rPr>
                        <a:t>2.05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CD6D7"/>
                      </a:solidFill>
                      <a:prstDash val="solid"/>
                    </a:lnR>
                    <a:lnB w="9525">
                      <a:solidFill>
                        <a:srgbClr val="CCD6D7"/>
                      </a:solidFill>
                      <a:prstDash val="solid"/>
                    </a:lnB>
                    <a:solidFill>
                      <a:srgbClr val="E8EF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65C2D-5068-4417-A10F-C99DFC4A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Single seed 42. Settings and full histories accompany the deck.</a:t>
            </a:r>
          </a:p>
        </p:txBody>
      </p:sp>
    </p:spTree>
    <p:extLst>
      <p:ext uri="{BB962C8B-B14F-4D97-AF65-F5344CB8AC3E}">
        <p14:creationId xmlns:p14="http://schemas.microsoft.com/office/powerpoint/2010/main" val="6561123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95037-E187-407C-82F8-D57524BB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Each batch follows five simple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15C74-C34D-49A8-99AD-6C10B45B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BEBCA-482E-41EA-A42F-6898503B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38325"/>
            <a:ext cx="10763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rPr>
              <a:t>scores = model(X["train"][batch]).squeeze(1)</a:t>
            </a:r>
          </a:p>
          <a:p xmlns:a="http://schemas.openxmlformats.org/drawingml/2006/main">
            <a:pPr>
              <a:def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rPr>
              <a:t>loss = loss_fn(scores, y["train"][batch])</a:t>
            </a:r>
          </a:p>
          <a:p xmlns:a="http://schemas.openxmlformats.org/drawingml/2006/main">
            <a:pPr>
              <a:def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rPr>
              <a:t>optimizer.zero_grad()</a:t>
            </a:r>
          </a:p>
          <a:p xmlns:a="http://schemas.openxmlformats.org/drawingml/2006/main">
            <a:pPr>
              <a:def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rPr>
              <a:t>loss.backward()</a:t>
            </a:r>
          </a:p>
          <a:p xmlns:a="http://schemas.openxmlformats.org/drawingml/2006/main">
            <a:pPr>
              <a:def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defRPr>
            </a:pPr>
            <a:r>
              <a:rPr sz="2325" b="0">
                <a:solidFill>
                  <a:srgbClr val="172C3C"/>
                </a:solidFill>
                <a:latin typeface="Courier New"/>
                <a:ea typeface="Courier New"/>
                <a:cs typeface="Courier New"/>
              </a:rPr>
              <a:t>optimizer.step()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78873-C76B-4292-9CD4-A2BE9E0A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BCEWithLogitsLoss includes sigmoid during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87BF4-952B-4A77-ADF3-0E70ED58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911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Early stopping saves a copy of the best validation weights</a:t>
            </a:r>
          </a:p>
        </p:txBody>
      </p:sp>
    </p:spTree>
    <p:extLst>
      <p:ext uri="{BB962C8B-B14F-4D97-AF65-F5344CB8AC3E}">
        <p14:creationId xmlns:p14="http://schemas.microsoft.com/office/powerpoint/2010/main" val="14039068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D9CF2-6E91-410C-A934-8A5F98BD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C"/>
                </a:solidFill>
                <a:latin typeface="Arial"/>
                <a:ea typeface="Arial"/>
                <a:cs typeface="Arial"/>
              </a:rPr>
              <a:t>These sources support the data and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A9F15-59CF-46FA-B156-D3700563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4657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574"/>
                </a:solidFill>
                <a:latin typeface="Arial"/>
                <a:ea typeface="Arial"/>
                <a:cs typeface="Arial"/>
              </a:rPr>
              <a:t>B4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000A2-902A-4245-B287-96B5E885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104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Sharmila, B. S. &amp; Nagapadma, R. (2023)</a:t>
            </a:r>
          </a:p>
          <a:p xmlns:a="http://schemas.openxmlformats.org/drawingml/2006/main">
            <a: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Quantized autoencoder (QAE) intrusion detection system for anomaly detection in</a:t>
            </a:r>
          </a:p>
          <a:p xmlns:a="http://schemas.openxmlformats.org/drawingml/2006/main">
            <a: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resource-constrained IoT devices using RT-IoT2022 dataset. Cybersecurity 6, 41.</a:t>
            </a:r>
          </a:p>
          <a:p xmlns:a="http://schemas.openxmlformats.org/drawingml/2006/main">
            <a: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doi:10.1186/s42400-023-00178-5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D2DD5-55F0-4016-8488-BD6204D0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1104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Rumelhart, D. E., Hinton, G. E. &amp; Williams, R. J. (1986)</a:t>
            </a:r>
          </a:p>
          <a:p xmlns:a="http://schemas.openxmlformats.org/drawingml/2006/main">
            <a: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Learning representations by back-propagating errors. Nature 323, 533–536.</a:t>
            </a:r>
          </a:p>
          <a:p xmlns:a="http://schemas.openxmlformats.org/drawingml/2006/main">
            <a: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doi:10.1038/323533a0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67FF3-B734-4C94-94D3-664C3442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24325"/>
            <a:ext cx="1104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Kingma, D. P. &amp; Ba, J. (2015)</a:t>
            </a:r>
          </a:p>
          <a:p xmlns:a="http://schemas.openxmlformats.org/drawingml/2006/main">
            <a: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Adam: A Method for Stochastic Optimization. ICLR.</a:t>
            </a:r>
          </a:p>
          <a:p xmlns:a="http://schemas.openxmlformats.org/drawingml/2006/main">
            <a: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https://arxiv.org/abs/1412.6980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1524B-3341-424C-AAFB-869AAF02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721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RT-IoT2022 dataset, UCI Machine Learning Repository</a:t>
            </a:r>
          </a:p>
          <a:p xmlns:a="http://schemas.openxmlformats.org/drawingml/2006/main">
            <a:pPr>
              <a:defRPr sz="1725" b="0">
                <a:solidFill>
                  <a:srgbClr val="172C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C"/>
                </a:solidFill>
                <a:latin typeface="Arial"/>
                <a:ea typeface="Arial"/>
                <a:cs typeface="Arial"/>
              </a:rPr>
              <a:t>https://doi.org/10.24432/C5P338</a:t>
            </a:r>
          </a:p>
        </p:txBody>
      </p:sp>
    </p:spTree>
    <p:extLst>
      <p:ext uri="{BB962C8B-B14F-4D97-AF65-F5344CB8AC3E}">
        <p14:creationId xmlns:p14="http://schemas.microsoft.com/office/powerpoint/2010/main" val="1130141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2026-10-18T19:22:59.9230000Z</dcterms:created>
  <dcterms:modified xsi:type="dcterms:W3CDTF">2026-10-18T19:22:59.9230000Z</dcterms:modified>
</coreProperties>
</file>