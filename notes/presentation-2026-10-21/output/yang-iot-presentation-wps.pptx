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9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Arial" panose="020B0604020202090204" pitchFamily="34" charset="0"/>
              </a:rPr>
            </a:fld>
            <a:endParaRPr lang="en-US">
              <a:latin typeface="Arial" panose="020B060402020209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9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Arial" panose="020B0604020202090204" pitchFamily="34" charset="0"/>
              </a:rPr>
            </a:fld>
            <a:endParaRPr lang="en-US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4" name="Slide Image Placeholder"/>
          <p:cNvSpPr/>
          <p:nvPr>
            <p:ph type="sldImg" idx="2"/>
          </p:nvPr>
        </p:nvSpPr>
        <p:spPr>
          <a:xfrm>
            <a:off x="457200" y="548640"/>
            <a:ext cx="5943600" cy="334327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idx="3"/>
          </p:nvPr>
        </p:nvSpPr>
        <p:spPr>
          <a:xfrm>
            <a:off x="457200" y="4114800"/>
            <a:ext cx="5943600" cy="4297680"/>
          </a:xfrm>
          <a:prstGeom prst="rect">
            <a:avLst/>
          </a:prstGeom>
        </p:spPr>
        <p:txBody>
          <a:bodyPr wrap="square" lIns="0" rIns="0" tIns="0" bIns="0" anchor="t"/>
          <a:lstStyle/>
          <a:p>
            <a:pPr algn="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0:20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Our question: normal or attack?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My part: full pipeline; training settings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Today: what changed; what I learned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../presentation-plan.md, personal contribution confirmed by user.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1:00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Think of a smoke alarm / 烟雾报警器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Fire, no alarm: missed attack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No fire, alarm: false alarm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Aim: classify IoT traffic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Objectives: build; compare; evaluate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Project scope and evaluation definitions in notebooks/iot_attack_detection.ipynb, test_model.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0:50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Dataset paper: autoencoder; edge resources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Backpropagation: calculate gradients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Adam: adapt updates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Our question: training choices; missed attacks; false alarms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Sharmila &amp; Nagapadma (2023), https://doi.org/10.1186/s42400-023-00178-5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Rumelhart, Hinton &amp; Williams (1986), https://doi.org/10.1038/323533a0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Kingma &amp; Ba (2015), https://arxiv.org/abs/1412.6980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0:50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Raw: 123,117 flows; 83 features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After cleaning: 117,922 flows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Always say attack: about 90% accuracy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So: detection rate AND false alarms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Colab metadata counts and raw_rows. Dataset: https://archive.ics.uci.edu/dataset/942/rt-iot2022. Counts refer to the project CSV after cleaning.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1:10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My part: organised implementation; one notebook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Clean before split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Train 70%; validation 15%; test 15%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Fit scaler on training rows only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Same split and seed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Honest limit: panel shows test metrics after each run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Project notebook Steps 1–7; Colab metadata. Current run_experiment calls test_model after every experiment. Validation chooses early-stopping weights; the test was visible during exploration, so it is not an untouched final benchmark.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0:55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no: counter, not a traffic feature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Duplicates: remove before split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Hidden label spaces: strip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Large numbers: scale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Same row in train and test: unfairly easy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Notebook Steps 1–3; Colab cleaned counts. Duplicate count = 123117 - 117922. Large numeric scale is documented in the notebook; not a new Colab measurement.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1:10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83 raw features; one-hot encoding gives 94 inputs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64 hidden units; ReLU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One output score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Sigmoid inside BCEWithLogitsLoss during training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Demo: forward; loss; zero gradients; backward; step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Notebook build_mlp and train_model. Colab baseline features=94. PyTorch code in the notebook uses BCEWithLogitsLoss, then sigmoid and threshold 0.5 for evaluation.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1:20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Same data; same network; same seed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Three configurations; different learning rates shown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Momentum: a rolling ball / 惯性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Adam: adaptive step per weight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This experiment only; not a universal winner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Colab export, 18 October 2026. Seed 42. Local assets/colab-results.json.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1:10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Step size down a hill / 下山步长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0.00001: slow within 30 epochs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0.001: lower validation loss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0.1: unstable here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Same optimiser; change only learning rate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Colab export, 18 October 2026. Seed 42. Local assets/colab-results.json.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1:20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826 training rows; larger MLP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Training loss down; validation loss up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Mock exam / 模拟考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Best epoch 7; stop after 5 worse checks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Restore best weights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More data is a separate comparison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Colab export, 18 October 2026. Seed 42. Local assets/colab-results.json.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1:00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Read rows: actual traffic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False alarms: 1.16% of normal traffic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Misses: 25 attacks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Threshold 0.5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Baseline checkpoint from validation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One seed; this dataset; exploratory test result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Colab export, 18 October 2026. Seed 42. Local assets/colab-results.json.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0:50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My contribution: organised pipeline; training comparisons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Learned: data first; curves explain failures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Limits: one seed; binary labels; random split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Test results visible during experiments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Next: multiple seeds; fresh evaluation; attack-level recall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Thank you. Notebook demo.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Personal reflection from current experiments. Suggested next steps, not completed work.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Backup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Before talk: Run all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Reset baseline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Training: SGD, lr 0.001; Train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Reset baseline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Training: Adam, lr 0.001; Train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If unavailable: show saved Colab results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Colab export, 18 October 2026. Seed 42. Local assets/colab-results.json.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Backup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All rows: Adam, SGD, momentum, learning rates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Small-data runs: 826 rows, larger network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Best val is not last val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Patience 0: last weights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Patience 5: best weights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Different data/model rows are separate comparisons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Colab export, 18 October 2026. Seed 42. Local assets/colab-results.json.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Backup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scores: forward pass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loss: compare scores with labels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zero_grad: clear previous gradients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backward: calculate current gradients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step: update weights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Validation: eval + no_grad</a:t>
            </a:r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Best weights: deepcopy; load_state_dict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Exact operations from notebook train_model; shortened formatting for presentation.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457200" y="54864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457200" y="4114800"/>
            <a:ext cx="5943600" cy="4297680"/>
          </a:xfrm>
        </p:spPr>
        <p:txBody>
          <a:bodyPr wrap="square" lIns="0" rIns="0" tIns="0" bIns="0" anchor="t"/>
          <a:lstStyle/>
          <a:p>
            <a:pPr algn="l"/>
            <a:r>
              <a:rPr sz="1400">
                <a:latin typeface="Arial"/>
                <a:ea typeface="Arial Unicode MS"/>
                <a:cs typeface="Arial"/>
              </a:rPr>
              <a:t>Backup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Dataset and three papers checked 18 October 2026</a:t>
            </a:r>
          </a:p>
          <a:p>
            <a:pPr algn="l"/>
          </a:p>
          <a:p>
            <a:pPr algn="l"/>
            <a:r>
              <a:rPr sz="1400">
                <a:latin typeface="Arial"/>
                <a:ea typeface="Arial Unicode MS"/>
                <a:cs typeface="Arial"/>
              </a:rPr>
              <a:t>Source: Links shown on slide; checked against publisher, arXiv and UCI pages.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647700" y="1381125"/>
            <a:ext cx="10763250" cy="1809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IoT Network Attack Detection</a:t>
            </a:r>
            <a:endParaRPr sz="4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Using Neural Networks</a:t>
            </a:r>
            <a:endParaRPr sz="4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3590925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0">
                <a:solidFill>
                  <a:srgbClr val="82D1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 organised the full pipeline and focused on training experiments</a:t>
            </a:r>
            <a:endParaRPr sz="2250" b="0">
              <a:solidFill>
                <a:srgbClr val="82D1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5191125"/>
            <a:ext cx="9525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Yang Yu</a:t>
            </a:r>
            <a:endParaRPr sz="1875" b="0">
              <a:solidFill>
                <a:srgbClr val="D9E4E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0">
                <a:solidFill>
                  <a:srgbClr val="D9E4E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CSIP5103D   /   21 October 2026</a:t>
            </a:r>
            <a:endParaRPr sz="1875" b="0">
              <a:solidFill>
                <a:srgbClr val="D9E4E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 need to catch attacks and avoid false alarms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762000" y="1809750"/>
          <a:ext cx="10668000" cy="2286000"/>
        </p:xfrm>
        <a:graphic>
          <a:graphicData uri="http://schemas.openxmlformats.org/drawingml/2006/table">
            <a:tbl>
              <a:tblPr/>
              <a:tblGrid>
                <a:gridCol w="2667000"/>
                <a:gridCol w="4000500"/>
                <a:gridCol w="4000500"/>
              </a:tblGrid>
              <a:tr h="7620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Real traffic</a:t>
                      </a:r>
                      <a:endParaRPr sz="22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 says normal</a:t>
                      </a:r>
                      <a:endParaRPr sz="22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 says attack</a:t>
                      </a:r>
                      <a:endParaRPr sz="22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Normal</a:t>
                      </a:r>
                      <a:endParaRPr sz="22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Correct</a:t>
                      </a:r>
                      <a:endParaRPr sz="22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False alarm</a:t>
                      </a:r>
                      <a:endParaRPr sz="22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Attack</a:t>
                      </a:r>
                      <a:endParaRPr sz="22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Missed attack</a:t>
                      </a:r>
                      <a:endParaRPr sz="22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Correct</a:t>
                      </a:r>
                      <a:endParaRPr sz="22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>
            <a:spLocks noGrp="1"/>
          </p:cNvSpPr>
          <p:nvPr/>
        </p:nvSpPr>
        <p:spPr>
          <a:xfrm>
            <a:off x="762000" y="461962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Aim: recognise normal and attack traffic with an MLP</a:t>
            </a:r>
            <a:endParaRPr sz="22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52387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Build a repeatable pipeline. Compare training settings. Measure both mistakes.</a:t>
            </a:r>
            <a:endParaRPr sz="20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 study training choices on an IoT dataset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609600" y="1666875"/>
          <a:ext cx="10972800" cy="3143252"/>
        </p:xfrm>
        <a:graphic>
          <a:graphicData uri="http://schemas.openxmlformats.org/drawingml/2006/table">
            <a:tbl>
              <a:tblPr/>
              <a:tblGrid>
                <a:gridCol w="3238500"/>
                <a:gridCol w="4476750"/>
                <a:gridCol w="325755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Study</a:t>
                      </a:r>
                      <a:endParaRPr sz="18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Main idea</a:t>
                      </a:r>
                      <a:endParaRPr sz="18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How we use it</a:t>
                      </a:r>
                      <a:endParaRPr sz="18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Sharmila &amp; Nagapadma, 2023</a:t>
                      </a:r>
                      <a:endParaRPr sz="18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Quantised autoencoder for IoT edge devices</a:t>
                      </a:r>
                      <a:endParaRPr sz="18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RT-IoT2022 data</a:t>
                      </a:r>
                      <a:endParaRPr sz="18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Rumelhart et al., 1986</a:t>
                      </a:r>
                      <a:endParaRPr sz="18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Backpropagation</a:t>
                      </a:r>
                      <a:endParaRPr sz="18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Calculate gradients</a:t>
                      </a:r>
                      <a:endParaRPr sz="18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Kingma &amp; Ba, 2015</a:t>
                      </a:r>
                      <a:endParaRPr sz="18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Adam optimiser</a:t>
                      </a:r>
                      <a:endParaRPr sz="18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Compare training updates</a:t>
                      </a:r>
                      <a:endParaRPr sz="18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>
            <a:spLocks noGrp="1"/>
          </p:cNvSpPr>
          <p:nvPr/>
        </p:nvSpPr>
        <p:spPr>
          <a:xfrm>
            <a:off x="666750" y="53244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2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Our focus: a supervised MLP and controlled training experiments</a:t>
            </a:r>
            <a:endParaRPr sz="2325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About 90% of the records are attacks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590602"/>
            <a:ext cx="8096250" cy="3962546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8905875" y="1857375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7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123,117</a:t>
            </a:r>
            <a:endParaRPr sz="367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953500" y="25717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raw flows</a:t>
            </a:r>
            <a:endParaRPr sz="187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905875" y="333375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117,922</a:t>
            </a:r>
            <a:endParaRPr sz="3675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953500" y="40481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after cleaning</a:t>
            </a:r>
            <a:endParaRPr sz="187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14375" y="581977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Accuracy alone hides the false alarms</a:t>
            </a:r>
            <a:endParaRPr sz="2250" b="1">
              <a:solidFill>
                <a:srgbClr val="BC4D3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ectangle 21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 connected cleaning, training and evaluation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8097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 Clean</a:t>
            </a:r>
            <a:endParaRPr sz="25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66750" y="2409825"/>
            <a:ext cx="3190875" cy="19050"/>
          </a:xfrm>
          <a:prstGeom prst="rect">
            <a:avLst/>
          </a:prstGeom>
          <a:solidFill>
            <a:srgbClr val="CCD6D7"/>
          </a:solidFill>
          <a:ln w="0">
            <a:noFill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666750" y="26289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Remove duplicates</a:t>
            </a:r>
            <a:endParaRPr sz="20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333875" y="18097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  Split</a:t>
            </a:r>
            <a:endParaRPr sz="25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333875" y="2409825"/>
            <a:ext cx="3190875" cy="19050"/>
          </a:xfrm>
          <a:prstGeom prst="rect">
            <a:avLst/>
          </a:prstGeom>
          <a:solidFill>
            <a:srgbClr val="CCD6D7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4333875" y="26289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70% / 15% / 15%</a:t>
            </a:r>
            <a:endParaRPr sz="20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001000" y="18097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  Scale</a:t>
            </a:r>
            <a:endParaRPr sz="25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001000" y="2409825"/>
            <a:ext cx="3190875" cy="19050"/>
          </a:xfrm>
          <a:prstGeom prst="rect">
            <a:avLst/>
          </a:prstGeom>
          <a:solidFill>
            <a:srgbClr val="CCD6D7"/>
          </a:solidFill>
          <a:ln w="0">
            <a:noFill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001000" y="26289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Fit on train only</a:t>
            </a:r>
            <a:endParaRPr sz="20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66750" y="3857625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  Train</a:t>
            </a:r>
            <a:endParaRPr sz="25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66750" y="4457700"/>
            <a:ext cx="3190875" cy="19050"/>
          </a:xfrm>
          <a:prstGeom prst="rect">
            <a:avLst/>
          </a:prstGeom>
          <a:solidFill>
            <a:srgbClr val="CCD6D7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66750" y="4676775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MLP + optimiser</a:t>
            </a:r>
            <a:endParaRPr sz="20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333875" y="3857625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 Validate</a:t>
            </a:r>
            <a:endParaRPr sz="25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333875" y="4457700"/>
            <a:ext cx="3190875" cy="19050"/>
          </a:xfrm>
          <a:prstGeom prst="rect">
            <a:avLst/>
          </a:prstGeom>
          <a:solidFill>
            <a:srgbClr val="CCD6D7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4333875" y="4676775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Keep best weights</a:t>
            </a:r>
            <a:endParaRPr sz="20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001000" y="3857625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  Evaluate</a:t>
            </a:r>
            <a:endParaRPr sz="25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001000" y="4457700"/>
            <a:ext cx="3190875" cy="19050"/>
          </a:xfrm>
          <a:prstGeom prst="rect">
            <a:avLst/>
          </a:prstGeom>
          <a:solidFill>
            <a:srgbClr val="CCD6D7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8001000" y="4676775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Misses + false alarms</a:t>
            </a:r>
            <a:endParaRPr sz="20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66750" y="58959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panel reports test metrics after each run</a:t>
            </a:r>
            <a:endParaRPr sz="1800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Cleaning prevents misleading results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666750" y="1714500"/>
          <a:ext cx="10858500" cy="3524250"/>
        </p:xfrm>
        <a:graphic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7048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Problem</a:t>
                      </a:r>
                      <a:endParaRPr sz="21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Action</a:t>
                      </a:r>
                      <a:endParaRPr sz="21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 row counter called no</a:t>
                      </a:r>
                      <a:endParaRPr sz="21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Drop it</a:t>
                      </a:r>
                      <a:endParaRPr sz="21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5,195 exact duplicate rows</a:t>
                      </a:r>
                      <a:endParaRPr sz="21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Remove before splitting</a:t>
                      </a:r>
                      <a:endParaRPr sz="21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Hidden whitespace in labels</a:t>
                      </a:r>
                      <a:endParaRPr sz="21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Strip label text</a:t>
                      </a:r>
                      <a:endParaRPr sz="21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Features on very different scales</a:t>
                      </a:r>
                      <a:endParaRPr sz="21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Standardise using training data</a:t>
                      </a:r>
                      <a:endParaRPr sz="21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>
            <a:spLocks noGrp="1"/>
          </p:cNvSpPr>
          <p:nvPr/>
        </p:nvSpPr>
        <p:spPr>
          <a:xfrm>
            <a:off x="704850" y="567690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Clean first, then split</a:t>
            </a:r>
            <a:endParaRPr sz="25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small MLP learns through a short training loop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666750" y="1714500"/>
          <a:ext cx="10858500" cy="1524000"/>
        </p:xfrm>
        <a:graphic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76200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Input</a:t>
                      </a:r>
                      <a:endParaRPr sz="24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Hidden layer</a:t>
                      </a:r>
                      <a:endParaRPr sz="24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Output</a:t>
                      </a:r>
                      <a:endParaRPr sz="24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94 values</a:t>
                      </a:r>
                      <a:endParaRPr sz="24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64 units + ReLU</a:t>
                      </a:r>
                      <a:endParaRPr sz="24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 score</a:t>
                      </a:r>
                      <a:endParaRPr sz="24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>
            <a:spLocks noGrp="1"/>
          </p:cNvSpPr>
          <p:nvPr/>
        </p:nvSpPr>
        <p:spPr>
          <a:xfrm>
            <a:off x="714375" y="352425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83 original features become 94 numeric inputs after encoding</a:t>
            </a:r>
            <a:endParaRPr sz="20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14375" y="4552950"/>
            <a:ext cx="1062037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forward     loss     zero_grad     backward     step</a:t>
            </a:r>
            <a:endParaRPr sz="25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14375" y="5553075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Batch 256      Adam lr 0.001      At most 30 epochs</a:t>
            </a:r>
            <a:endParaRPr sz="2100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Adam reaches the lowest loss in this comparison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456977"/>
            <a:ext cx="10953750" cy="4039297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14375" y="5791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SGD lr 0.1       Momentum lr 0.01       Adam lr 0.001</a:t>
            </a:r>
            <a:endParaRPr sz="20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learning rate changes how well Adam learns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504602"/>
            <a:ext cx="10953750" cy="4039297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14375" y="5800725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Same model and data. Only the learning rate changes.</a:t>
            </a:r>
            <a:endParaRPr sz="210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Validation shows when more training stops helping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568440"/>
            <a:ext cx="8239125" cy="4006869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8991600" y="19050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Best epoch</a:t>
            </a:r>
            <a:endParaRPr sz="187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991600" y="2333625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43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991600" y="3476625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Early stop at</a:t>
            </a:r>
            <a:endParaRPr sz="187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991600" y="39243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endParaRPr sz="4350" b="1">
              <a:solidFill>
                <a:srgbClr val="2864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19125" y="582930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1% of training rows. Hidden layers 256 and 128. Adam lr 0.001.</a:t>
            </a:r>
            <a:endParaRPr sz="187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baseline catches 99.84% of attacks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293" y="1381125"/>
            <a:ext cx="4964514" cy="4429125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8572500" y="1952625"/>
            <a:ext cx="29527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>
                <a:solidFill>
                  <a:srgbClr val="BC4D3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1.16%</a:t>
            </a:r>
            <a:endParaRPr sz="4350" b="1">
              <a:solidFill>
                <a:srgbClr val="BC4D3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601075" y="27622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false alarms</a:t>
            </a:r>
            <a:endParaRPr sz="2250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572500" y="3762375"/>
            <a:ext cx="29527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>
                <a:solidFill>
                  <a:srgbClr val="2864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25</a:t>
            </a:r>
            <a:endParaRPr sz="4350" b="1">
              <a:solidFill>
                <a:srgbClr val="2864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601075" y="454342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missed attacks</a:t>
            </a:r>
            <a:endParaRPr sz="2250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66750" y="592455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Baseline Adam lr 0.001. Test set: 17,689 flows. Threshold: 0.5.</a:t>
            </a:r>
            <a:endParaRPr sz="17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 learned to check the data and the training process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619125" y="1762125"/>
          <a:ext cx="10953750" cy="3190876"/>
        </p:xfrm>
        <a:graphic>
          <a:graphicData uri="http://schemas.openxmlformats.org/drawingml/2006/table">
            <a:tbl>
              <a:tblPr/>
              <a:tblGrid>
                <a:gridCol w="3657600"/>
                <a:gridCol w="3648075"/>
                <a:gridCol w="3648075"/>
              </a:tblGrid>
              <a:tr h="7977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Learned</a:t>
                      </a:r>
                      <a:endParaRPr sz="19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Limits</a:t>
                      </a:r>
                      <a:endParaRPr sz="19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Next</a:t>
                      </a:r>
                      <a:endParaRPr sz="19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Training settings change the result</a:t>
                      </a:r>
                      <a:endParaRPr sz="19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One seed and one random split</a:t>
                      </a:r>
                      <a:endParaRPr sz="19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Repeat across seeds</a:t>
                      </a:r>
                      <a:endParaRPr sz="19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Validation helps decide when to stop</a:t>
                      </a:r>
                      <a:endParaRPr sz="19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Only normal / attack labels</a:t>
                      </a:r>
                      <a:endParaRPr sz="19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Check each attack type</a:t>
                      </a:r>
                      <a:endParaRPr sz="19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The full pipeline must be explainable</a:t>
                      </a:r>
                      <a:endParaRPr sz="19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Test results visible while exploring</a:t>
                      </a:r>
                      <a:endParaRPr sz="19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Use a fresh final evaluation</a:t>
                      </a:r>
                      <a:endParaRPr sz="1950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>
            <a:spLocks noGrp="1"/>
          </p:cNvSpPr>
          <p:nvPr/>
        </p:nvSpPr>
        <p:spPr>
          <a:xfrm>
            <a:off x="666750" y="54673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Thank you. I can show the notebook live.</a:t>
            </a:r>
            <a:endParaRPr sz="2850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demo changes one training setting at a time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B1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706" y="1428750"/>
            <a:ext cx="5253463" cy="457200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8972550" y="1876425"/>
            <a:ext cx="2609850" cy="3143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 Run all before the talk</a:t>
            </a:r>
            <a:endParaRPr sz="1950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950"/>
          </a:p>
          <a:p>
            <a: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  SGD, lr 0.001</a:t>
            </a:r>
            <a:endParaRPr sz="1950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950"/>
          </a:p>
          <a:p>
            <a:pPr>
              <a:def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  Adam, lr 0.001</a:t>
            </a:r>
            <a:endParaRPr sz="1950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comparison uses saved Colab runs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B2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571500" y="1476375"/>
          <a:ext cx="11049000" cy="4286250"/>
        </p:xfrm>
        <a:graphic>
          <a:graphicData uri="http://schemas.openxmlformats.org/drawingml/2006/table">
            <a:tbl>
              <a:tblPr/>
              <a:tblGrid>
                <a:gridCol w="2571750"/>
                <a:gridCol w="1047750"/>
                <a:gridCol w="1714500"/>
                <a:gridCol w="1714500"/>
                <a:gridCol w="1809750"/>
                <a:gridCol w="2190750"/>
              </a:tblGrid>
              <a:tr h="38965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Run</a:t>
                      </a:r>
                      <a:endParaRPr sz="15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Epochs</a:t>
                      </a:r>
                      <a:endParaRPr sz="15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Best val</a:t>
                      </a:r>
                      <a:endParaRPr sz="15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Last val</a:t>
                      </a:r>
                      <a:endParaRPr sz="15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Detected %</a:t>
                      </a:r>
                      <a:endParaRPr sz="15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False alarms %</a:t>
                      </a:r>
                      <a:endParaRPr sz="15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Adam 0.001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30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0.0074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0.0087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99.84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1.16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SGD 0.1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30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0.0161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0.0199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99.78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2.11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Momentum 0.01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30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0.0170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0.0173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99.83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2.22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SGD 0.001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30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0.0996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0.0996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98.82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35.27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Adam 0.00001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30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0.1126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0.1126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99.02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34.89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Adam 0.1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13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0.0416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0.0926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99.97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16.75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Overfit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150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0.1059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0.3119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99.14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3.55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Early stopping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12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0.1059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0.1177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97.92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6.05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Weight decay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150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0.0983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0.1228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98.24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4.33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More data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150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0.0307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0.1058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99.76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2.05</a:t>
                      </a:r>
                      <a:endParaRPr sz="1575" b="0">
                        <a:solidFill>
                          <a:srgbClr val="172C3C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>
            <a:spLocks noGrp="1"/>
          </p:cNvSpPr>
          <p:nvPr/>
        </p:nvSpPr>
        <p:spPr>
          <a:xfrm>
            <a:off x="619125" y="6029325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Single seed 42. Settings and full histories accompany the deck.</a:t>
            </a:r>
            <a:endParaRPr sz="17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Each batch follows five simple steps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B3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714375" y="1838325"/>
            <a:ext cx="10763250" cy="2619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defPPr>
            <a:lvl1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1pPr>
            <a:lvl2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2pPr>
            <a:lvl3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3pPr>
            <a:lvl4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4pPr>
            <a:lvl5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5pPr>
            <a:lvl6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6pPr>
            <a:lvl7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7pPr>
            <a:lvl8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8pPr>
            <a:lvl9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9pPr>
          </a:lstStyle>
          <a:p>
            <a: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scores = model(X["train"][batch]).squeeze(1)</a:t>
            </a:r>
            <a:endParaRPr sz="2325" b="0">
              <a:solidFill>
                <a:srgbClr val="172C3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loss = loss_fn(scores, y["train"][batch])</a:t>
            </a:r>
            <a:endParaRPr sz="2325" b="0">
              <a:solidFill>
                <a:srgbClr val="172C3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optimizer.zero_grad()</a:t>
            </a:r>
            <a:endParaRPr sz="2325" b="0">
              <a:solidFill>
                <a:srgbClr val="172C3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loss.backward()</a:t>
            </a:r>
            <a:endParaRPr sz="2325" b="0">
              <a:solidFill>
                <a:srgbClr val="172C3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2325" b="0">
                <a:solidFill>
                  <a:srgbClr val="172C3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optimizer.step()</a:t>
            </a:r>
            <a:endParaRPr sz="2325" b="0">
              <a:solidFill>
                <a:srgbClr val="172C3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14375" y="481012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1">
                <a:solidFill>
                  <a:srgbClr val="007F7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BCEWithLogitsLoss includes sigmoid during training</a:t>
            </a:r>
            <a:endParaRPr sz="2175" b="1">
              <a:solidFill>
                <a:srgbClr val="007F7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14375" y="5591175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Early stopping saves a copy of the best validation weights</a:t>
            </a:r>
            <a:endParaRPr sz="20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609600" y="4000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25" b="1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These sources support the data and methods</a:t>
            </a:r>
            <a:endParaRPr sz="3225" b="1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63341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54657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B4</a:t>
            </a:r>
            <a:endParaRPr sz="1425" b="0">
              <a:solidFill>
                <a:srgbClr val="54657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19125" y="1457325"/>
            <a:ext cx="11049000" cy="1219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Sharmila, B. S. &amp; Nagapadma, R. (2023)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Quantized autoencoder (QAE) intrusion detection system for anomaly detection in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resource-constrained IoT devices using RT-IoT2022 dataset. Cybersecurity 6, 41.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doi:10.1186/s42400-023-00178-5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9125" y="2905125"/>
            <a:ext cx="11049000" cy="971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Rumelhart, D. E., Hinton, G. E. &amp; Williams, R. J. (1986)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Learning representations by back-propagating errors. Nature 323, 533–536.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doi:10.1038/323533a0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19125" y="4124325"/>
            <a:ext cx="11049000" cy="971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Kingma, D. P. &amp; Ba, J. (2015)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Adam: A Method for Stochastic Optimization. ICLR.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https://arxiv.org/abs/1412.6980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19125" y="537210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RT-IoT2022 dataset, UCI Machine Learning Repository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172C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https://doi.org/10.24432/C5P338</a:t>
            </a:r>
            <a:endParaRPr sz="1725" b="0">
              <a:solidFill>
                <a:srgbClr val="172C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3988</Words>
  <Application>WPS Presentation</Application>
  <PresentationFormat>Converted Presentation</PresentationFormat>
  <Paragraphs>408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Arial</vt:lpstr>
      <vt:lpstr>Courier New</vt:lpstr>
      <vt:lpstr>Microsoft YaHei</vt:lpstr>
      <vt:lpstr>方正雅意黑 GB18030L2</vt:lpstr>
      <vt:lpstr>Arial Unicode MS</vt:lpstr>
      <vt:lpstr>Aptos</vt:lpstr>
      <vt:lpstr>Helvetica Neue</vt:lpstr>
      <vt:lpstr>Calibri</vt:lpstr>
      <vt:lpstr>Courier New</vt:lpstr>
      <vt:lpstr>汉仪书宋二KW</vt:lpstr>
      <vt:lpstr>SimSun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helloworld</cp:lastModifiedBy>
  <cp:revision>2</cp:revision>
  <dcterms:created xsi:type="dcterms:W3CDTF">2026-10-19T03:15:07Z</dcterms:created>
  <dcterms:modified xsi:type="dcterms:W3CDTF">2026-10-19T03:15:07Z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39FA36260265C545CD8AD56A0EF82100_43</vt:lpwstr>
  </property>
  <property fmtid="{D5CDD505-2E9C-101B-9397-08002B2CF9AE}" pid="3" name="KSOProductBuildVer">
    <vt:lpwstr>1033-12.1.28496.28496</vt:lpwstr>
  </property>
</Properties>
</file>